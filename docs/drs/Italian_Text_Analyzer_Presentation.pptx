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75" r:id="rId8"/>
    <p:sldId id="263" r:id="rId9"/>
    <p:sldId id="264" r:id="rId10"/>
    <p:sldId id="276" r:id="rId11"/>
    <p:sldId id="277" r:id="rId12"/>
    <p:sldId id="265" r:id="rId13"/>
    <p:sldId id="266" r:id="rId14"/>
    <p:sldId id="267" r:id="rId15"/>
    <p:sldId id="268" r:id="rId16"/>
    <p:sldId id="273" r:id="rId17"/>
    <p:sldId id="274" r:id="rId18"/>
    <p:sldId id="27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5199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695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525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721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7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5291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 ·  UNIVERSITY OF GENOA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Text Quality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Analyzer &amp; Rewriter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writing assistant that corrects grammar,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pleonasms, and rewrites Italian texts.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297680"/>
            <a:ext cx="3840480" cy="594360"/>
          </a:xfrm>
          <a:prstGeom prst="roundRect">
            <a:avLst>
              <a:gd name="adj" fmla="val 7692"/>
            </a:avLst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1596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Emanuela Ibra  ·  Yakup Gürer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Tools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Correct grammar only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Ignore redundancy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Miss pleonasms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Don't reduce repetition</a:t>
            </a:r>
            <a:endParaRPr lang="en-US" sz="14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global quality improvement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965960"/>
            <a:ext cx="3749040" cy="822960"/>
          </a:xfrm>
          <a:prstGeom prst="roundRect">
            <a:avLst>
              <a:gd name="adj" fmla="val 5556"/>
            </a:avLst>
          </a:prstGeom>
          <a:solidFill>
            <a:srgbClr val="FFF3F3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02996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Collaborare insieme è molto importante.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 finale è stato positivo.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2880360"/>
            <a:ext cx="914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31546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28090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429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3749040"/>
            <a:ext cx="3749040" cy="640080"/>
          </a:xfrm>
          <a:prstGeom prst="roundRect">
            <a:avLst>
              <a:gd name="adj" fmla="val 7143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379476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Collaborare è molto importante.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risultato è stato positivo.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intelligent writing assistant for Italian texts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087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1490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Correction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856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fix grammatical</a:t>
            </a:r>
            <a:r>
              <a:rPr lang="tr-TR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errors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0876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49240" y="149047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 Detection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8562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Lexical, lemma-based, and synonym repetition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974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6791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Pleonasm Detection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0449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JSON-based knowledge base for Italian pleonasms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0604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69748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349240" y="267919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Redundancy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304495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Sentence-level similarity analysis with spaCy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947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862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60120" y="38679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Rewriting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2336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and AI-powered (Ollama) rewriting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94760"/>
            <a:ext cx="411480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88620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349240" y="3867912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Docs Integration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42336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sidebar integration into Google Docs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EC6DEA4-DF8B-4ED7-9056-6774FFC7D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242" y="1710497"/>
            <a:ext cx="8130486" cy="23513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10171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507A0C9-09A9-4246-A54B-967FEB92D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4738"/>
            <a:ext cx="1682394" cy="39733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Correction Module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0D213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LanguageTool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Detects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1488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Grammatical errors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4114800" cy="502920"/>
          </a:xfrm>
          <a:prstGeom prst="roundRect">
            <a:avLst>
              <a:gd name="adj" fmla="val 1272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7889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Spelling mistakes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105156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1206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(grammar error):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192024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9202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5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 studenti va a scuola.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423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corrected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120640" y="2743200"/>
            <a:ext cx="3474720" cy="4572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DD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Gli studenti vanno a scuola.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Grammar Correction Module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48DD357-FC57-412D-9B47-8A5FB52EC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18" y="1528732"/>
            <a:ext cx="8229600" cy="208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247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Lexical Repetition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904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 repeated multiple times in close proximity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1887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progetto   progetto   progetto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50008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4231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Lemma Repetition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forms of the same root word repeated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487168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248716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migliora   ·   migliorato   ·   miglioramento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648456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DF4FF"/>
          </a:solidFill>
          <a:ln w="12700">
            <a:solidFill>
              <a:srgbClr val="E9D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7216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2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Synonym Repetition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087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equivalent words used redundantly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3785616"/>
            <a:ext cx="3749040" cy="822960"/>
          </a:xfrm>
          <a:prstGeom prst="roundRect">
            <a:avLst>
              <a:gd name="adj" fmla="val 6667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785616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E22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importante   ·   significativo   ·   fondamentale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Pleonasm Detection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59" y="1554480"/>
            <a:ext cx="4161479" cy="3200400"/>
          </a:xfrm>
          <a:prstGeom prst="roundRect">
            <a:avLst>
              <a:gd name="adj" fmla="val 312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Knowledge Base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755648"/>
            <a:ext cx="3749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hardcoding pleonasms in Python: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PLEONASMS = {...}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JSON file is used: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italian_pleonasms.json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is lemma-based, NOT exact-string.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600200"/>
          <a:ext cx="4114800" cy="3200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Pleonasm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risultato finale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risultato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regalo gratuito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regalo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pianificazione futura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pianificazione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collaborare insieme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FCA5A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scendere giù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6EFA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scendere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</a:t>
            </a:r>
            <a:r>
              <a:rPr lang="tr-TR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Pleonasm 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DA9F348-C48D-40E6-839F-0A28DD17F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57" y="1003921"/>
            <a:ext cx="6989085" cy="36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3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Repetition</a:t>
            </a:r>
            <a:r>
              <a:rPr lang="tr-TR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And Pleonasm 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F872E-89CC-4A16-9D28-1FB2F1628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30" y="1541889"/>
            <a:ext cx="7164922" cy="31771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4C5294-55E2-4141-AC18-117A3DD939D3}"/>
              </a:ext>
            </a:extLst>
          </p:cNvPr>
          <p:cNvSpPr txBox="1"/>
          <p:nvPr/>
        </p:nvSpPr>
        <p:spPr>
          <a:xfrm>
            <a:off x="661830" y="1080250"/>
            <a:ext cx="71649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dirty="0"/>
              <a:t>Result of corrected format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976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Redundancy Detection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Similarity Analysis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852928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70C0"/>
                </a:solidFill>
              </a:rPr>
              <a:t>Sentence-Transformer Embeddings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semantic sentence vectors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02736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6301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3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</a:rPr>
              <a:t>Cosine Similarity Matrix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3904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every sentence pair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4379976"/>
            <a:ext cx="4023360" cy="6400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437997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r>
              <a:rPr lang="tr-TR" sz="13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Classification</a:t>
            </a:r>
            <a:endParaRPr lang="en-US" sz="1300" dirty="0">
              <a:solidFill>
                <a:srgbClr val="0070C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46542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Candidate/ Manual Review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271016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37760" y="1856232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85623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vendite sono diminuite nel terzo trimestre.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514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MEANING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0" y="2807208"/>
            <a:ext cx="3566160" cy="594360"/>
          </a:xfrm>
          <a:prstGeom prst="roundRect">
            <a:avLst>
              <a:gd name="adj" fmla="val 9231"/>
            </a:avLst>
          </a:prstGeom>
          <a:solidFill>
            <a:srgbClr val="0F17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80720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Nel terzo trimestre le vendite hanno registrato un calo.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520440"/>
            <a:ext cx="3566160" cy="45720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538728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Similarity &gt; threshold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3776472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Flagged as redundant</a:t>
            </a:r>
            <a:endParaRPr lang="en-US" sz="11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966B74-3284-4610-8D9F-95ACA56A5E10}"/>
              </a:ext>
            </a:extLst>
          </p:cNvPr>
          <p:cNvSpPr txBox="1"/>
          <p:nvPr/>
        </p:nvSpPr>
        <p:spPr>
          <a:xfrm>
            <a:off x="320040" y="1439342"/>
            <a:ext cx="4160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The system uses a multilingual Sentence-Transformer model to compare the meaning of complete sentences, not only individual words.</a:t>
            </a:r>
          </a:p>
          <a:p>
            <a:r>
              <a:rPr lang="en-US" sz="1050" dirty="0"/>
              <a:t>Each sentence is converted into a semantic vector. Then the system calculates cosine similarity between all sentence pairs.</a:t>
            </a:r>
          </a:p>
          <a:p>
            <a:r>
              <a:rPr lang="en-US" sz="1050" dirty="0"/>
              <a:t>If the similarity score is high, the pair is classified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1" dirty="0"/>
              <a:t>Duplicate</a:t>
            </a:r>
            <a:r>
              <a:rPr lang="en-US" sz="1050" dirty="0"/>
              <a:t>: almost identical meaning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1" dirty="0"/>
              <a:t>Manual review</a:t>
            </a:r>
            <a:r>
              <a:rPr lang="en-US" sz="1050" dirty="0"/>
              <a:t>: user chooses which sentence to keep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50" b="1" dirty="0"/>
              <a:t>Merge candidate</a:t>
            </a:r>
            <a:r>
              <a:rPr lang="en-US" sz="1050" dirty="0"/>
              <a:t>: the system may merge them during rewriting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Pre-Merging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498080" y="1828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needed?  If we directly pass both sentences to the AI, information may be lost.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23444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234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Pair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205740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057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Score (</a:t>
            </a:r>
            <a:r>
              <a:rPr lang="tr-TR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-Tranformers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2560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2880" y="28803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" y="2880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Delete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82880" y="38862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7F1D1D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82880" y="3886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 choose what to keep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28803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017520" y="2880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&lt; Score &lt;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Threshold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1752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017520" y="38862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451A03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886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as Merge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28803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52160" y="288036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Merge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52160" y="35661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52160" y="3886200"/>
            <a:ext cx="2926080" cy="594360"/>
          </a:xfrm>
          <a:prstGeom prst="roundRect">
            <a:avLst>
              <a:gd name="adj" fmla="val 12308"/>
            </a:avLst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388620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Unchanged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Rewriting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134688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1271848"/>
            <a:ext cx="1645920" cy="411480"/>
          </a:xfrm>
          <a:prstGeom prst="roundRect">
            <a:avLst>
              <a:gd name="adj" fmla="val 13333"/>
            </a:avLst>
          </a:prstGeom>
          <a:solidFill>
            <a:srgbClr val="0D2137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127184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</a:t>
            </a:r>
            <a:r>
              <a:rPr lang="tr-TR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sz="12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(Ollama)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1820488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1820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Collect analysis results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94360" y="2277688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2776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Build prompt with context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" y="2734888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27348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Send to local LLM (Ollama)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" y="3192088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192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Parse model output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3649288"/>
            <a:ext cx="3749040" cy="365760"/>
          </a:xfrm>
          <a:prstGeom prst="roundRect">
            <a:avLst>
              <a:gd name="adj" fmla="val 125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6492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Return rewritten text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" y="4152208"/>
            <a:ext cx="374904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152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Better quality  ·  Context-aware  ·  Natural output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Docs Integration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4114800" cy="1097280"/>
          </a:xfrm>
          <a:prstGeom prst="roundRect">
            <a:avLst>
              <a:gd name="adj" fmla="val 75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527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selects text in Google Docs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09728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40680" y="1143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Opens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5270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sidebar opens automatically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13432"/>
            <a:ext cx="4114800" cy="1097280"/>
          </a:xfrm>
          <a:prstGeom prst="roundRect">
            <a:avLst>
              <a:gd name="adj" fmla="val 75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587752"/>
            <a:ext cx="502920" cy="502920"/>
          </a:xfrm>
          <a:prstGeom prst="ellipse">
            <a:avLst/>
          </a:prstGeom>
          <a:solidFill>
            <a:srgbClr val="9A3412"/>
          </a:solidFill>
          <a:ln w="12700">
            <a:solidFill>
              <a:srgbClr val="9A34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1560" y="2404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34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 to API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788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sent to FastAPI backend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313432"/>
            <a:ext cx="4114800" cy="1097280"/>
          </a:xfrm>
          <a:prstGeom prst="roundRect">
            <a:avLst>
              <a:gd name="adj" fmla="val 7500"/>
            </a:avLst>
          </a:prstGeom>
          <a:solidFill>
            <a:srgbClr val="FDF4FF"/>
          </a:solidFill>
          <a:ln w="12700">
            <a:solidFill>
              <a:srgbClr val="E9D5FF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587752"/>
            <a:ext cx="502920" cy="502920"/>
          </a:xfrm>
          <a:prstGeom prst="ellipse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40680" y="24048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E2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Displayed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2788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Errors, pleonasms, and issues shown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575304"/>
            <a:ext cx="4114800" cy="1097280"/>
          </a:xfrm>
          <a:prstGeom prst="roundRect">
            <a:avLst>
              <a:gd name="adj" fmla="val 75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49624"/>
            <a:ext cx="502920" cy="50292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51560" y="36667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Reviews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40507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reviews suggestions &amp; accepts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575304"/>
            <a:ext cx="4114800" cy="109728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849624"/>
            <a:ext cx="502920" cy="50292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40680" y="366674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65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Replaced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40680" y="405079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text replaced with improved version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3000" dirty="0"/>
              <a:t>Model Candidates Tested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E734850-A374-4ABF-96CA-2265269F4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113" y="1308974"/>
            <a:ext cx="8523743" cy="272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18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3000" dirty="0"/>
              <a:t>How we compared alternatives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3945B21B-55D4-4884-AE1A-564D99CAC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52" y="1141052"/>
            <a:ext cx="8175248" cy="55941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F99126A5-C641-4E74-83EA-7EC6BCB40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68482"/>
            <a:ext cx="8229601" cy="286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293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Italian writing assistant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 grammar correction (LanguageTool)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2588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32588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detection (lexical, lemma, synonym)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9456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19456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Pleonasm detection (JSON knowledge base)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219456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57800" y="219456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redundancy analysis (</a:t>
            </a:r>
            <a:r>
              <a:rPr lang="tr-TR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Sentence-Tranformer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306324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Pre-merging strategy 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931920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931920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68680" y="3931920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rewriting (Ollama — high quality)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104389"/>
            <a:ext cx="4114800" cy="713232"/>
          </a:xfrm>
          <a:prstGeom prst="roundRect">
            <a:avLst>
              <a:gd name="adj" fmla="val 897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C39A">
                <a:alpha val="3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9586" y="3104389"/>
            <a:ext cx="411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61066" y="3104389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integration (real application)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675</Words>
  <Application>Microsoft Office PowerPoint</Application>
  <PresentationFormat>On-screen Show (16:9)</PresentationFormat>
  <Paragraphs>192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Italian Text Quality Analyzer and Rewriter</dc:title>
  <dc:subject>PptxGenJS Presentation</dc:subject>
  <dc:creator>Emanuela Ibra, Yakup Gürer</dc:creator>
  <cp:lastModifiedBy>ela ibra</cp:lastModifiedBy>
  <cp:revision>15</cp:revision>
  <dcterms:created xsi:type="dcterms:W3CDTF">2026-06-22T20:16:00Z</dcterms:created>
  <dcterms:modified xsi:type="dcterms:W3CDTF">2026-06-24T19:21:04Z</dcterms:modified>
</cp:coreProperties>
</file>