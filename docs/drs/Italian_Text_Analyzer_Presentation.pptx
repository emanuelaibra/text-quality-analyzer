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9"/>
    <p:sldId id="263" r:id="rId10"/>
    <p:sldId id="264" r:id="rId11"/>
    <p:sldId id="276" r:id="rId12"/>
    <p:sldId id="277" r:id="rId13"/>
    <p:sldId id="265" r:id="rId14"/>
    <p:sldId id="266" r:id="rId15"/>
    <p:sldId id="267" r:id="rId16"/>
    <p:sldId id="268" r:id="rId17"/>
    <p:sldId id="273" r:id="rId18"/>
    <p:sldId id="274" r:id="rId19"/>
    <p:sldId id="271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-311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51990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695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1525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772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070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5291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028090">
              <a:alpha val="15000"/>
            </a:srgbClr>
          </a:solidFill>
          <a:ln w="12700">
            <a:solidFill>
              <a:srgbClr val="028090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>
                <a:alpha val="1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  ·  UNIVERSITY OF GENOA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Text Quality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Analyzer &amp; Rewriter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intelligent writing assistant that corrects grammar,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pleonasms, and rewrites Italian texts.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297680"/>
            <a:ext cx="3840480" cy="594360"/>
          </a:xfrm>
          <a:prstGeom prst="roundRect">
            <a:avLst>
              <a:gd name="adj" fmla="val 7692"/>
            </a:avLst>
          </a:prstGeom>
          <a:solidFill>
            <a:srgbClr val="028090">
              <a:alpha val="40000"/>
            </a:srgbClr>
          </a:solidFill>
          <a:ln w="12700">
            <a:solidFill>
              <a:srgbClr val="028090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15968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Emanuela Ibra  ·  Yakup Gürer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02336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 Tools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Correct grammar only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Ignore redundancy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Miss pleonasms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Don't reduce repetition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global quality improvement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1887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645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46320" y="1965960"/>
            <a:ext cx="3749040" cy="822960"/>
          </a:xfrm>
          <a:prstGeom prst="roundRect">
            <a:avLst>
              <a:gd name="adj" fmla="val 5556"/>
            </a:avLst>
          </a:prstGeom>
          <a:solidFill>
            <a:srgbClr val="FFF3F3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029968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Collaborare insieme è molto importante.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finale è stato positivo.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2880360"/>
            <a:ext cx="91440" cy="365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3154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</a:rPr>
              <a:t>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3429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46320" y="3749040"/>
            <a:ext cx="3749040" cy="640080"/>
          </a:xfrm>
          <a:prstGeom prst="roundRect">
            <a:avLst>
              <a:gd name="adj" fmla="val 714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379476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Collaborare è molto importante.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stato positivo.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intelligent writing assistant for Italian texts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2C39A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149047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Grammar Correction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85623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&amp; fix grammatical, spelling, punctuation errors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2C39A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50876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349240" y="149047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Repetition Detection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49240" y="185623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Lexical, lemma-based, and synonym repetition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60604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2C39A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6974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0120" y="267919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Pleonasm Detection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304495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JSON-based knowledge base for Italian pleonasms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60604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2C39A">
                <a:alpha val="4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26974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49240" y="267919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Redundancy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49240" y="304495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Sentence-level similarity analysis with spaCy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7947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2C39A">
                <a:alpha val="4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88620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60120" y="386791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Rewriting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423367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and AI-powered (Ollama) rewriting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7947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2C39A">
                <a:alpha val="4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88620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349240" y="386791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Docs Integration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49240" y="423367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sidebar integration into Google Docs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515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377440" y="1097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10515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80560" y="1097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0515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097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766560" y="10515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66560" y="10515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WritingService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 Pipeline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2194560"/>
            <a:ext cx="1572768" cy="822960"/>
          </a:xfrm>
          <a:prstGeom prst="roundRect">
            <a:avLst>
              <a:gd name="adj" fmla="val 888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0040" y="2194560"/>
            <a:ext cx="15727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92808" y="242316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039112" y="2194560"/>
            <a:ext cx="1572768" cy="822960"/>
          </a:xfrm>
          <a:prstGeom prst="roundRect">
            <a:avLst>
              <a:gd name="adj" fmla="val 8889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039112" y="2194560"/>
            <a:ext cx="15727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11880" y="242316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758184" y="2194560"/>
            <a:ext cx="1572768" cy="822960"/>
          </a:xfrm>
          <a:prstGeom prst="roundRect">
            <a:avLst>
              <a:gd name="adj" fmla="val 8889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758184" y="2194560"/>
            <a:ext cx="15727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Pleonasm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30952" y="242316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77256" y="2194560"/>
            <a:ext cx="1572768" cy="822960"/>
          </a:xfrm>
          <a:prstGeom prst="roundRect">
            <a:avLst>
              <a:gd name="adj" fmla="val 8889"/>
            </a:avLst>
          </a:prstGeom>
          <a:solidFill>
            <a:srgbClr val="FDF4FF"/>
          </a:solidFill>
          <a:ln w="12700">
            <a:solidFill>
              <a:srgbClr val="E9D5F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477256" y="2194560"/>
            <a:ext cx="15727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E2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Redundancy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7E2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50024" y="242316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196328" y="2194560"/>
            <a:ext cx="1572768" cy="822960"/>
          </a:xfrm>
          <a:prstGeom prst="roundRect">
            <a:avLst>
              <a:gd name="adj" fmla="val 8889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196328" y="2194560"/>
            <a:ext cx="15727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Pre-Merging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30632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</a:rPr>
              <a:t>↓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2560320" y="342900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560320" y="34290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846320" y="342900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846320" y="34290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Rewriter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(Ollama)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0" y="352044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</a:rPr>
              <a:t>→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657600" y="4206240"/>
            <a:ext cx="2011680" cy="594360"/>
          </a:xfrm>
          <a:prstGeom prst="roundRect">
            <a:avLst>
              <a:gd name="adj" fmla="val 12308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657600" y="42062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Text Output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 Diagram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EEC6DEA4-DF8B-4ED7-9056-6774FFC7DA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242" y="1710497"/>
            <a:ext cx="8130486" cy="23513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Activity Diagram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10171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B507A0C9-09A9-4246-A54B-967FEB92D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84738"/>
            <a:ext cx="1682394" cy="39733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Grammar Correction Module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0D2137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LanguageTool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Detects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488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Grammatical errors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7889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Spelling mistakes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290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Punctuation issues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37760" y="1051560"/>
            <a:ext cx="38404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120640" y="1188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20640" y="162763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(grammar error):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120640" y="1920240"/>
            <a:ext cx="347472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19202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5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 studenti va a scuola.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120640" y="24231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corrected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120640" y="2743200"/>
            <a:ext cx="347472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1208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 studenti vanno a scuola.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Grammar Correction Module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48DD357-FC57-412D-9B47-8A5FB52EC7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018" y="1528732"/>
            <a:ext cx="8229600" cy="208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77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Repetition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51560"/>
            <a:ext cx="8412480" cy="1188720"/>
          </a:xfrm>
          <a:prstGeom prst="roundRect">
            <a:avLst>
              <a:gd name="adj" fmla="val 6154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12471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Lexical Repetition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9047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word repeated multiple times in close proximity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749040" cy="82296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8872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progetto   progetto   progetto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350008"/>
            <a:ext cx="8412480" cy="1188720"/>
          </a:xfrm>
          <a:prstGeom prst="roundRect">
            <a:avLst>
              <a:gd name="adj" fmla="val 6154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42316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Lemma Repetition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788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forms of the same root word repeated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487168"/>
            <a:ext cx="3749040" cy="82296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2487168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migliora   ·   migliorato   ·   miglioramento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648456"/>
            <a:ext cx="8412480" cy="1188720"/>
          </a:xfrm>
          <a:prstGeom prst="roundRect">
            <a:avLst>
              <a:gd name="adj" fmla="val 6154"/>
            </a:avLst>
          </a:prstGeom>
          <a:solidFill>
            <a:srgbClr val="FDF4FF"/>
          </a:solidFill>
          <a:ln w="12700">
            <a:solidFill>
              <a:srgbClr val="E9D5F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3721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22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Synonym Repetition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408736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Semantically equivalent words used redundantly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3785616"/>
            <a:ext cx="3749040" cy="82296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785616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E22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importante   ·   significativo   ·   fondamentale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Pleonasm Detection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59" y="1554480"/>
            <a:ext cx="4161479" cy="3200400"/>
          </a:xfrm>
          <a:prstGeom prst="roundRect">
            <a:avLst>
              <a:gd name="adj" fmla="val 3125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02C39A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Knowledge Base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755648"/>
            <a:ext cx="3749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hardcoding pleonasms in Python: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PLEONASMS = {...}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JSON file is used: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italian_pleonasms.json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is lemma-based, NOT exact-string.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188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Examples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600200"/>
          <a:ext cx="4114800" cy="32004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Pleonasm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FCA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risultato finale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86E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risultato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FCA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regalo gratuito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86E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regalo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FCA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pianificazione futura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86E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pianificazione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FCA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collaborare insieme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86E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collaborare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FCA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scendere giù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86E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scendere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Repetition</a:t>
            </a:r>
            <a:r>
              <a:rPr lang="tr-TR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And Pleonasm 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DA9F348-C48D-40E6-839F-0A28DD17F9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57" y="1003921"/>
            <a:ext cx="6989085" cy="3695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33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Repetition</a:t>
            </a:r>
            <a:r>
              <a:rPr lang="tr-TR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And Pleonasm 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F872E-89CC-4A16-9D28-1FB2F162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30" y="1541889"/>
            <a:ext cx="7164922" cy="31771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14C5294-55E2-4141-AC18-117A3DD939D3}"/>
              </a:ext>
            </a:extLst>
          </p:cNvPr>
          <p:cNvSpPr txBox="1"/>
          <p:nvPr/>
        </p:nvSpPr>
        <p:spPr>
          <a:xfrm>
            <a:off x="661830" y="1080250"/>
            <a:ext cx="7164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dirty="0"/>
              <a:t>Result of corrected format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976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Redundancy Detection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Similarity Analysis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uses spaCy word vectors to compute sentence-level semantic similarity.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sentences exceed a similarity threshold, they are flagged as potentially redundant.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542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spaCy Vectors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embedding similarity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26440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291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 Similarity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 scoring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01421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40416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Threshold Filtering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315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cutoff point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051560"/>
            <a:ext cx="402336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3776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937760" y="1627632"/>
            <a:ext cx="3566160" cy="594360"/>
          </a:xfrm>
          <a:prstGeom prst="roundRect">
            <a:avLst>
              <a:gd name="adj" fmla="val 9231"/>
            </a:avLst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1627632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vendite sono diminuite nel terzo trimestre.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2286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MEANING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937760" y="2578608"/>
            <a:ext cx="3566160" cy="594360"/>
          </a:xfrm>
          <a:prstGeom prst="roundRect">
            <a:avLst>
              <a:gd name="adj" fmla="val 9231"/>
            </a:avLst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257860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Nel terzo trimestre le vendite hanno registrato un calo.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3291840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0" y="3310128"/>
            <a:ext cx="3383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Similarity &gt; threshold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354787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Flagged as redundant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Pre-Merging Strategy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498080" y="18288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this needed?  If we directly pass both sentences to the AI, information may be lost.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0" y="1234440"/>
            <a:ext cx="3200400" cy="502920"/>
          </a:xfrm>
          <a:prstGeom prst="roundRect">
            <a:avLst>
              <a:gd name="adj" fmla="val 14545"/>
            </a:avLst>
          </a:prstGeom>
          <a:solidFill>
            <a:srgbClr val="1E3A5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0" y="12344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Pair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737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2057400"/>
            <a:ext cx="3200400" cy="502920"/>
          </a:xfrm>
          <a:prstGeom prst="roundRect">
            <a:avLst>
              <a:gd name="adj" fmla="val 14545"/>
            </a:avLst>
          </a:prstGeom>
          <a:solidFill>
            <a:srgbClr val="1E3A5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20574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Score (spaCy)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00400" y="2560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82880" y="2880360"/>
            <a:ext cx="2926080" cy="685800"/>
          </a:xfrm>
          <a:prstGeom prst="roundRect">
            <a:avLst>
              <a:gd name="adj" fmla="val 10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82880" y="28803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&gt; Delete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" y="35661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" y="388620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7F1D1D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" y="38862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Duplicate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880360"/>
            <a:ext cx="2926080" cy="685800"/>
          </a:xfrm>
          <a:prstGeom prst="roundRect">
            <a:avLst>
              <a:gd name="adj" fmla="val 10667"/>
            </a:avLst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017520" y="28803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&lt; Score &lt;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Threshold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017520" y="35661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↓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017520" y="388620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451A03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17520" y="38862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as Merge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852160" y="2880360"/>
            <a:ext cx="2926080" cy="685800"/>
          </a:xfrm>
          <a:prstGeom prst="roundRect">
            <a:avLst>
              <a:gd name="adj" fmla="val 10667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852160" y="28803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Merge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852160" y="35661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852160" y="388620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052E16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52160" y="38862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Unchanged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Rewriting Engine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1134688"/>
            <a:ext cx="411480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1271848"/>
            <a:ext cx="1645920" cy="411480"/>
          </a:xfrm>
          <a:prstGeom prst="roundRect">
            <a:avLst>
              <a:gd name="adj" fmla="val 13333"/>
            </a:avLst>
          </a:prstGeom>
          <a:solidFill>
            <a:srgbClr val="0D2137"/>
          </a:solidFill>
          <a:ln w="12700">
            <a:solidFill>
              <a:srgbClr val="9A34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1271848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 (Ollama)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" y="1820488"/>
            <a:ext cx="3749040" cy="365760"/>
          </a:xfrm>
          <a:prstGeom prst="roundRect">
            <a:avLst>
              <a:gd name="adj" fmla="val 125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18204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Collect analysis results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" y="2277688"/>
            <a:ext cx="3749040" cy="365760"/>
          </a:xfrm>
          <a:prstGeom prst="roundRect">
            <a:avLst>
              <a:gd name="adj" fmla="val 125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22776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Build prompt with context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2734888"/>
            <a:ext cx="3749040" cy="365760"/>
          </a:xfrm>
          <a:prstGeom prst="roundRect">
            <a:avLst>
              <a:gd name="adj" fmla="val 125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27348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Send to local LLM (Ollama)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94360" y="3192088"/>
            <a:ext cx="3749040" cy="365760"/>
          </a:xfrm>
          <a:prstGeom prst="roundRect">
            <a:avLst>
              <a:gd name="adj" fmla="val 125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31920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Parse model output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94360" y="3649288"/>
            <a:ext cx="3749040" cy="365760"/>
          </a:xfrm>
          <a:prstGeom prst="roundRect">
            <a:avLst>
              <a:gd name="adj" fmla="val 125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36492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Return rewritten text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4360" y="4152208"/>
            <a:ext cx="3749040" cy="274320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415220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Better quality  ·  Context-aware  ·  Natural output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Docs Integration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51560"/>
            <a:ext cx="4114800" cy="1097280"/>
          </a:xfrm>
          <a:prstGeom prst="roundRect">
            <a:avLst>
              <a:gd name="adj" fmla="val 75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25880"/>
            <a:ext cx="502920" cy="50292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Text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527048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selects text in Google Docs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4114800" cy="1097280"/>
          </a:xfrm>
          <a:prstGeom prst="roundRect">
            <a:avLst>
              <a:gd name="adj" fmla="val 7500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325880"/>
            <a:ext cx="502920" cy="50292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40680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Sidebar Opens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40680" y="1527048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sidebar opens automatically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313432"/>
            <a:ext cx="4114800" cy="1097280"/>
          </a:xfrm>
          <a:prstGeom prst="roundRect">
            <a:avLst>
              <a:gd name="adj" fmla="val 75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587752"/>
            <a:ext cx="502920" cy="502920"/>
          </a:xfrm>
          <a:prstGeom prst="ellipse">
            <a:avLst/>
          </a:prstGeom>
          <a:solidFill>
            <a:srgbClr val="9A3412"/>
          </a:solidFill>
          <a:ln w="12700">
            <a:solidFill>
              <a:srgbClr val="9A34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877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240487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A3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 to API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27889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sent to FastAPI backend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2313432"/>
            <a:ext cx="4114800" cy="1097280"/>
          </a:xfrm>
          <a:prstGeom prst="roundRect">
            <a:avLst>
              <a:gd name="adj" fmla="val 7500"/>
            </a:avLst>
          </a:prstGeom>
          <a:solidFill>
            <a:srgbClr val="FDF4FF"/>
          </a:solidFill>
          <a:ln w="12700">
            <a:solidFill>
              <a:srgbClr val="E9D5F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2587752"/>
            <a:ext cx="502920" cy="502920"/>
          </a:xfrm>
          <a:prstGeom prst="ellipse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5877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40680" y="240487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22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 Displayed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0680" y="27889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pleonasms, and issues shown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3575304"/>
            <a:ext cx="4114800" cy="1097280"/>
          </a:xfrm>
          <a:prstGeom prst="roundRect">
            <a:avLst>
              <a:gd name="adj" fmla="val 75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849624"/>
            <a:ext cx="502920" cy="502920"/>
          </a:xfrm>
          <a:prstGeom prst="ellipse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84962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51560" y="366674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Reviews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51560" y="405079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reviews suggestions &amp; accepts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0" y="3575304"/>
            <a:ext cx="4114800" cy="1097280"/>
          </a:xfrm>
          <a:prstGeom prst="roundRect">
            <a:avLst>
              <a:gd name="adj" fmla="val 7500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849624"/>
            <a:ext cx="502920" cy="50292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384962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440680" y="366674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Replaced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40680" y="405079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text replaced with improved version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tr-TR" sz="3000" dirty="0"/>
              <a:t>Model Candidates Tested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4E734850-A374-4ABF-96CA-2265269F40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113" y="1308974"/>
            <a:ext cx="8523743" cy="272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18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tr-TR" sz="3000" dirty="0"/>
              <a:t>How we compared alternatives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3945B21B-55D4-4884-AE1A-564D99CAC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52" y="1141052"/>
            <a:ext cx="8175248" cy="55941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F99126A5-C641-4E74-83EA-7EC6BCB403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868482"/>
            <a:ext cx="8229601" cy="2866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7293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028090">
              <a:alpha val="15000"/>
            </a:srgbClr>
          </a:solidFill>
          <a:ln w="12700">
            <a:solidFill>
              <a:srgbClr val="028090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3200400"/>
            <a:ext cx="3657600" cy="3657600"/>
          </a:xfrm>
          <a:prstGeom prst="ellipse">
            <a:avLst/>
          </a:prstGeom>
          <a:solidFill>
            <a:srgbClr val="02C39A">
              <a:alpha val="12000"/>
            </a:srgbClr>
          </a:solidFill>
          <a:ln w="12700">
            <a:solidFill>
              <a:srgbClr val="02C39A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Italian writing assistant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2C39A">
                <a:alpha val="3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25880"/>
            <a:ext cx="411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1325880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grammar correction (LanguageTool)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32588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2C39A">
                <a:alpha val="3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325880"/>
            <a:ext cx="411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57800" y="1325880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 detection (lexical, lemma, synonym)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2C39A">
                <a:alpha val="3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194560"/>
            <a:ext cx="411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2194560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Pleonasm detection (JSON knowledge base)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19456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2C39A">
                <a:alpha val="3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2194560"/>
            <a:ext cx="411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57800" y="2194560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redundancy analysis (spaCy)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30632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2C39A">
                <a:alpha val="3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063240"/>
            <a:ext cx="411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" y="3063240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Pre-merging strategy (3-case decision logic)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2C39A">
                <a:alpha val="3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3063240"/>
            <a:ext cx="411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57800" y="3063240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rewriting (fast &amp; deterministic)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393192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2C39A">
                <a:alpha val="3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931920"/>
            <a:ext cx="411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68680" y="3931920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rewriting (Ollama — high quality)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54880" y="393192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02C39A">
                <a:alpha val="3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931920"/>
            <a:ext cx="411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257800" y="3931920"/>
            <a:ext cx="3474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 integration (real application)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672</Words>
  <Application>Microsoft Office PowerPoint</Application>
  <PresentationFormat>On-screen Show (16:9)</PresentationFormat>
  <Paragraphs>222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Italian Text Quality Analyzer and Rewriter</dc:title>
  <dc:subject>PptxGenJS Presentation</dc:subject>
  <dc:creator>Emanuela Ibra, Yakup Gürer</dc:creator>
  <cp:lastModifiedBy>ela ibra</cp:lastModifiedBy>
  <cp:revision>10</cp:revision>
  <dcterms:created xsi:type="dcterms:W3CDTF">2026-06-22T20:16:00Z</dcterms:created>
  <dcterms:modified xsi:type="dcterms:W3CDTF">2026-06-23T08:28:41Z</dcterms:modified>
</cp:coreProperties>
</file>